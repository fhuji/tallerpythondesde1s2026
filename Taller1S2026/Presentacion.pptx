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2" r:id="rId5"/>
    <p:sldId id="28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75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253D-1EC1-D6AA-2F59-994279F9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1B7DA-C414-354A-2C49-01CD87E09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0E56A-95E5-DF50-24D6-0E0FC7E2B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7CEAE-5FC8-4A07-3F30-37B90D0A12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42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D3DB-BEE4-9CA3-3B55-378AEA7E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A8AB9-E3DA-2B72-B5B7-E086B4CCC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35731-CE60-E889-C73A-FFB173A3B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A834B-73D2-3C17-3170-4F680AD06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2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8229600" cy="4297680"/>
          </a:xfrm>
          <a:prstGeom prst="rect">
            <a:avLst/>
          </a:prstGeom>
          <a:solidFill>
            <a:srgbClr val="16213E"/>
          </a:solidFill>
          <a:ln w="381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4114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PLAYER 1 HAS ENTERED THE GAME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005840"/>
            <a:ext cx="5943600" cy="774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Josue Daniel Revolorio Martínez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0" y="2146570"/>
            <a:ext cx="6217920" cy="160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CLASE: 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/ Desarrollador
</a:t>
            </a: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EXP:    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Ningana DX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SKILLS: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pro player de mi casa
</a:t>
            </a: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MISIÓN: </a:t>
            </a:r>
            <a:r>
              <a:rPr lang="en-US" sz="1300" dirty="0" err="1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Enseñar</a:t>
            </a: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 print(‘hello c:’)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ENERGÍA: ████████████████████ 100%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1005840"/>
            <a:ext cx="201168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389888" y="1005840"/>
            <a:ext cx="201168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591056" y="1005840"/>
            <a:ext cx="201168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1792224" y="1005840"/>
            <a:ext cx="201168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188720" y="1207008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1389888" y="1207008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591056" y="1207008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1792224" y="1207008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1188720" y="1408176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1389888" y="1408176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1591056" y="1408176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1792224" y="1408176"/>
            <a:ext cx="201168" cy="201168"/>
          </a:xfrm>
          <a:prstGeom prst="rect">
            <a:avLst/>
          </a:prstGeom>
          <a:solidFill>
            <a:srgbClr val="6A0DAD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1188720" y="1609344"/>
            <a:ext cx="201168" cy="201168"/>
          </a:xfrm>
          <a:prstGeom prst="rect">
            <a:avLst/>
          </a:prstGeom>
          <a:solidFill>
            <a:srgbClr val="FF6600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1792224" y="1609344"/>
            <a:ext cx="201168" cy="201168"/>
          </a:xfrm>
          <a:prstGeom prst="rect">
            <a:avLst/>
          </a:prstGeom>
          <a:solidFill>
            <a:srgbClr val="FF6600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371600" y="640080"/>
            <a:ext cx="6400800" cy="1280160"/>
          </a:xfrm>
          <a:prstGeom prst="rect">
            <a:avLst/>
          </a:prstGeom>
          <a:solidFill>
            <a:srgbClr val="6A0DAD"/>
          </a:solidFill>
          <a:ln w="508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371600" y="6400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⏸  RECESO  ⏸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JUEGO PAUSADO &lt;&lt;
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minutos de descanso.
Estira los dedos, toma agua 💧
</a:t>
            </a:r>
            <a:r>
              <a:rPr lang="en-US" sz="17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CONTINUAMOS EN 10 MIN...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31520" y="640080"/>
            <a:ext cx="7680960" cy="1188720"/>
          </a:xfrm>
          <a:prstGeom prst="rect">
            <a:avLst/>
          </a:prstGeom>
          <a:solidFill>
            <a:srgbClr val="001A00"/>
          </a:solidFill>
          <a:ln w="381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CARGANDO EJERCICIO...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solidFill>
            <a:srgbClr val="001A0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389888" y="2121408"/>
            <a:ext cx="5029200" cy="40233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████████████████████░░░░░░  78%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Preparando entorno...
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Abre tu consola de Python
</a:t>
            </a:r>
            <a:r>
              <a:rPr lang="en-US" sz="15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Haz preguntas cuando tengas dudas ✓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10505-E507-4BA1-B26F-6307BFF9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0708C6-B9EF-A71A-EA8F-D343442C2A68}"/>
              </a:ext>
            </a:extLst>
          </p:cNvPr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E50D3E-2CA7-8D3C-F28F-6A686A1E131C}"/>
              </a:ext>
            </a:extLst>
          </p:cNvPr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401BF3-C5AF-413E-6C9F-DD0DC2F08A27}"/>
              </a:ext>
            </a:extLst>
          </p:cNvPr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09A8EB-A641-AC94-55F8-70CEA0EB8835}"/>
              </a:ext>
            </a:extLst>
          </p:cNvPr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241A1AE-1919-6203-37E4-C05E13735F2A}"/>
              </a:ext>
            </a:extLst>
          </p:cNvPr>
          <p:cNvSpPr/>
          <p:nvPr/>
        </p:nvSpPr>
        <p:spPr>
          <a:xfrm>
            <a:off x="731520" y="640080"/>
            <a:ext cx="7680960" cy="1188720"/>
          </a:xfrm>
          <a:prstGeom prst="rect">
            <a:avLst/>
          </a:prstGeom>
          <a:solidFill>
            <a:srgbClr val="001A00"/>
          </a:solidFill>
          <a:ln w="381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7D2374-9545-1430-8AA7-CF5D00B23DA2}"/>
              </a:ext>
            </a:extLst>
          </p:cNvPr>
          <p:cNvSpPr/>
          <p:nvPr/>
        </p:nvSpPr>
        <p:spPr>
          <a:xfrm>
            <a:off x="731520" y="6400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Realizndo</a:t>
            </a:r>
            <a:r>
              <a:rPr lang="en-US" sz="3600" b="1" dirty="0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3600" b="1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Comprobacion</a:t>
            </a:r>
            <a:endParaRPr lang="en-US" sz="3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19872A5-8FF3-FC25-DE69-544422E8E6A2}"/>
              </a:ext>
            </a:extLst>
          </p:cNvPr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solidFill>
            <a:srgbClr val="001A0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DE4D6EF-4F53-3AE1-DAB9-6164AC675D62}"/>
              </a:ext>
            </a:extLst>
          </p:cNvPr>
          <p:cNvSpPr/>
          <p:nvPr/>
        </p:nvSpPr>
        <p:spPr>
          <a:xfrm>
            <a:off x="1389888" y="2121408"/>
            <a:ext cx="5029200" cy="40233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640483-6005-6B95-FBEB-D2A5EB110DCF}"/>
              </a:ext>
            </a:extLst>
          </p:cNvPr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████████████████████░░░░░░  -78%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E385AA-9E8A-857C-3DBB-F255F2918BA1}"/>
              </a:ext>
            </a:extLst>
          </p:cNvPr>
          <p:cNvSpPr/>
          <p:nvPr/>
        </p:nvSpPr>
        <p:spPr>
          <a:xfrm>
            <a:off x="1371600" y="32004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Preparando entorno...
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Abre </a:t>
            </a:r>
            <a:r>
              <a:rPr lang="en-US" sz="15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 de google form
</a:t>
            </a:r>
            <a:r>
              <a:rPr lang="en-US" sz="15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500" dirty="0" err="1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Contesta</a:t>
            </a:r>
            <a:r>
              <a:rPr lang="en-US" sz="15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las </a:t>
            </a:r>
            <a:r>
              <a:rPr lang="en-US" sz="1500" dirty="0" err="1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preguntas</a:t>
            </a:r>
            <a:r>
              <a:rPr lang="en-US" sz="15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6484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024D9-74A5-8EB9-55F6-86FAFF50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038FD8-8BB7-D1A9-0467-BC18FA27579D}"/>
              </a:ext>
            </a:extLst>
          </p:cNvPr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8BFDDA-5C88-5BF5-B933-73216190332B}"/>
              </a:ext>
            </a:extLst>
          </p:cNvPr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7CE653-22D1-7906-DB7B-4ED630578913}"/>
              </a:ext>
            </a:extLst>
          </p:cNvPr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EA927C-A67A-C477-3DB7-EAE55AB60422}"/>
              </a:ext>
            </a:extLst>
          </p:cNvPr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4B2737-060F-85E9-B0EB-04D06E9199A3}"/>
              </a:ext>
            </a:extLst>
          </p:cNvPr>
          <p:cNvSpPr/>
          <p:nvPr/>
        </p:nvSpPr>
        <p:spPr>
          <a:xfrm>
            <a:off x="731520" y="640080"/>
            <a:ext cx="7680960" cy="1188720"/>
          </a:xfrm>
          <a:prstGeom prst="rect">
            <a:avLst/>
          </a:prstGeom>
          <a:solidFill>
            <a:srgbClr val="001A00"/>
          </a:solidFill>
          <a:ln w="381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684B60-7112-C643-99BA-DC99B1D958C7}"/>
              </a:ext>
            </a:extLst>
          </p:cNvPr>
          <p:cNvSpPr/>
          <p:nvPr/>
        </p:nvSpPr>
        <p:spPr>
          <a:xfrm>
            <a:off x="731520" y="6400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Espeando</a:t>
            </a:r>
            <a:r>
              <a:rPr lang="en-US" sz="3600" b="1" dirty="0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 a </a:t>
            </a:r>
            <a:r>
              <a:rPr lang="en-US" sz="3600" b="1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los</a:t>
            </a:r>
            <a:r>
              <a:rPr lang="en-US" sz="3600" b="1" dirty="0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3600" b="1" dirty="0" err="1">
                <a:solidFill>
                  <a:srgbClr val="39FF14"/>
                </a:solidFill>
                <a:latin typeface="Courier New" pitchFamily="34" charset="0"/>
                <a:cs typeface="Courier New" pitchFamily="34" charset="-120"/>
              </a:rPr>
              <a:t>estudiantes</a:t>
            </a:r>
            <a:endParaRPr lang="en-US" sz="3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735D20A-E478-6DF2-BFA1-6155F05AC471}"/>
              </a:ext>
            </a:extLst>
          </p:cNvPr>
          <p:cNvSpPr/>
          <p:nvPr/>
        </p:nvSpPr>
        <p:spPr>
          <a:xfrm>
            <a:off x="1371600" y="2103120"/>
            <a:ext cx="6400800" cy="457200"/>
          </a:xfrm>
          <a:prstGeom prst="rect">
            <a:avLst/>
          </a:prstGeom>
          <a:solidFill>
            <a:srgbClr val="001A0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AC7C414-5709-9CD4-A686-0F9BB1C6EB53}"/>
              </a:ext>
            </a:extLst>
          </p:cNvPr>
          <p:cNvSpPr/>
          <p:nvPr/>
        </p:nvSpPr>
        <p:spPr>
          <a:xfrm>
            <a:off x="1389888" y="2121408"/>
            <a:ext cx="5029200" cy="40233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F74407-B1DB-580E-DA0A-D621A29406F3}"/>
              </a:ext>
            </a:extLst>
          </p:cNvPr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████████████████████░░░░░░  -78%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F8FC75-4277-1464-FFD6-E1D5028A435D}"/>
              </a:ext>
            </a:extLst>
          </p:cNvPr>
          <p:cNvSpPr/>
          <p:nvPr/>
        </p:nvSpPr>
        <p:spPr>
          <a:xfrm>
            <a:off x="1371600" y="32004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500" dirty="0" err="1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Empezamos</a:t>
            </a:r>
            <a:r>
              <a:rPr lang="en-US" sz="1500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 err="1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1500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 </a:t>
            </a:r>
            <a:r>
              <a:rPr lang="en-US" sz="1500" dirty="0" err="1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Minutos</a:t>
            </a:r>
            <a:r>
              <a:rPr lang="en-US" sz="1500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
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5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Comenzamos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las 11:10 am
</a:t>
            </a:r>
            <a:r>
              <a:rPr lang="en-US" sz="15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Ya </a:t>
            </a:r>
            <a:r>
              <a:rPr lang="en-US" sz="1500" dirty="0" err="1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casi</a:t>
            </a:r>
            <a:r>
              <a:rPr lang="en-US" sz="150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(: 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6198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BÁSICO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4023360" y="2514600"/>
            <a:ext cx="201168" cy="201168"/>
          </a:xfrm>
          <a:prstGeom prst="rect">
            <a:avLst/>
          </a:prstGeom>
          <a:solidFill>
            <a:srgbClr val="39FF14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4251960" y="2514600"/>
            <a:ext cx="201168" cy="201168"/>
          </a:xfrm>
          <a:prstGeom prst="rect">
            <a:avLst/>
          </a:prstGeom>
          <a:solidFill>
            <a:srgbClr val="00FFFF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480560" y="2514600"/>
            <a:ext cx="201168" cy="201168"/>
          </a:xfrm>
          <a:prstGeom prst="rect">
            <a:avLst/>
          </a:prstGeom>
          <a:solidFill>
            <a:srgbClr val="00FFFF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709160" y="2514600"/>
            <a:ext cx="201168" cy="201168"/>
          </a:xfrm>
          <a:prstGeom prst="rect">
            <a:avLst/>
          </a:prstGeom>
          <a:solidFill>
            <a:srgbClr val="00FFFF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937760" y="2514600"/>
            <a:ext cx="201168" cy="201168"/>
          </a:xfrm>
          <a:prstGeom prst="rect">
            <a:avLst/>
          </a:prstGeom>
          <a:solidFill>
            <a:srgbClr val="00FFFF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937760" y="2286000"/>
            <a:ext cx="201168" cy="201168"/>
          </a:xfrm>
          <a:prstGeom prst="rect">
            <a:avLst/>
          </a:prstGeom>
          <a:solidFill>
            <a:srgbClr val="00FFFF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937760" y="2057400"/>
            <a:ext cx="201168" cy="201168"/>
          </a:xfrm>
          <a:prstGeom prst="rect">
            <a:avLst/>
          </a:prstGeom>
          <a:solidFill>
            <a:srgbClr val="00FFFF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en Consola desde Cero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Duración: 3 horas  |  Nivel: Principiante  |  Sin experiencia previa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► PRESIONA START PARA COMENZAR 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COIN  •  INSERT COIN  •  INSERT COIN  •  INSERT COIN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HISTORIA DE PYTHON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ORIGEN DE PYTHON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¿De dónde viene Python?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🧑‍💻 Creado por Guido van Rossum, programador holandés.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121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📅 Empezó a desarrollarlo en diciembre de 1989, como proyecto de navidad.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5786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🐍 El nombre viene del show de comedia BBC 'Monty Python's Flying Circus', no de la serpiente.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Su objetivo: un lenguaje fácil de leer, simple de escribir y poderoso.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4930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Código abierto desde el inicio. Cualquiera puede usarlo y mejorarlo.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+100  |  Guido van Rossum fue llamado 'Benevolent Dictator For Life' (BDFL) de Python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HISTORIA DE PYTHON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DE TIEMPO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115568" y="1463040"/>
            <a:ext cx="54864" cy="429768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868680" y="1179576"/>
            <a:ext cx="548640" cy="274320"/>
          </a:xfrm>
          <a:prstGeom prst="ellipse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68680" y="1179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1143000"/>
            <a:ext cx="7223760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691640" y="1197864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1.0 — Primera versión pública. Funciones, módulos, manejo de excepciones.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15568" y="2212848"/>
            <a:ext cx="54864" cy="429768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68680" y="1929384"/>
            <a:ext cx="548640" cy="27432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68680" y="19293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54480" y="1892808"/>
            <a:ext cx="7223760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691640" y="1947672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2.0 — Comprensión de listas, recolección de basura. Gran crecimiento.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15568" y="2962656"/>
            <a:ext cx="54864" cy="429768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68680" y="2679192"/>
            <a:ext cx="548640" cy="2743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68680" y="2679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54480" y="2642616"/>
            <a:ext cx="7223760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691640" y="269748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3.0 — Rediseño completo. Mejor unicode y consistencia. Rompe compatibilidad con v2.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15568" y="3712464"/>
            <a:ext cx="54864" cy="429768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868680" y="3429000"/>
            <a:ext cx="548640" cy="274320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8686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54480" y="3392424"/>
            <a:ext cx="7223760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1691640" y="3447288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2 llega a su fin. Todo el mundo migra a Python 3.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4178808"/>
            <a:ext cx="548640" cy="274320"/>
          </a:xfrm>
          <a:prstGeom prst="ellipse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86868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54480" y="4142232"/>
            <a:ext cx="7223760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1691640" y="4197096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3.x — #1 en rankings mundiales. IA, datos, web, automatización.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 es el estándar actual — siempre usa python3 al abrir la consola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🐍 ¿POR QUÉ PYTHON?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APRENDER PYTHON?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023360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457200" cy="8229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5760" y="11430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19786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Sintaxis limpia — se lee casi como inglés cotidiano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457200" cy="8229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20370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y de código abierto para siempre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023360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57200" cy="8229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65760" y="3154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20954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Comunidad enorme — miles de tutoriales en español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023360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57200" cy="8229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663440" y="11430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119786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Usado por: Google • Netflix • NASA • Instagram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663440" y="2148840"/>
            <a:ext cx="457200" cy="8229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663440" y="2148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220370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para: IA • Datos • Web • Juegos • Automatización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4023360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663440" y="3154680"/>
            <a:ext cx="457200" cy="8229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663440" y="3154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320954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Ideal para aprender a programar desde cero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+150  |  Python es el lenguaje #1 para comenzar a programar en 2024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LA CONSOLA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CONSOLA DE PYTHON (REPL)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 = Read (Leer)  →  Eval (Evaluar)  →  Print (Imprimir)  →  Loop (Repetir)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901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CÓMO ABRIR: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023360" cy="201168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75488" y="2295144"/>
            <a:ext cx="3803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→ CMD o PowerShell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 / Linux → Terminal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Aparece el símbolo: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_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901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TUS PRIMEROS COMANDOS: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023360" cy="201168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773168" y="2295144"/>
            <a:ext cx="3803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print('Hola, mundo!')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Hola, mundo!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+ 2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10 * 5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símbolo &gt;&gt;&gt; significa que Python está listo para tu instrucción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VARIABLES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— CAJAS PARA GUARDAR DATOS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variable es una CAJA con NOMBRE donde guardas información. Python detecta el tipo automáticamente.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023360" cy="246888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2920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REGLAS DE NOMBRES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Letras, números y _
✓ NO empieza con número
✓ Sin espacios (usa _)
✓ Sensible a MAYÚSCULAS
</a:t>
            </a:r>
            <a:r>
              <a:rPr lang="en-US" sz="12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≠ Edad ≠ EDAD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4114800" cy="246888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773168" y="2020824"/>
            <a:ext cx="38953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variables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'Ana'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  = 25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 = 9.99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vivo   = True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Cambiar valor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+200  |  El signo = NO significa 'igual', significa 'guarda esto aquí'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🔢 TIPOS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DATOS — NÚMEROS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11480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— Entero (Integer)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Números SIN decimales.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Positivos, negativos o cero.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Edades, puntajes, contadores...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3840480" cy="18288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66928" y="2505456"/>
            <a:ext cx="36210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vidas = 3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puntos = 1500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anio = 2024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type(vidas)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11480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114800" cy="38404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 — Decimal (Float)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572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Números CON decimales.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Precios, temperaturas,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porcentajes. Usa PUNTO no coma.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3840480" cy="18288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864608" y="2505456"/>
            <a:ext cx="36210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 = 19.99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 = 36.6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   = 3.14159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type(precio)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 devuelve 5.0 (float) • 10 // 2 devuelve 5 (int) — división entera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🔤 TIPOS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DATOS — TEXTO Y BOOLEANO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11480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  — Texto (String)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Cualquier texto entre comillas.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Simples ' ' o dobles " ".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'25' es texto, no número.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3840480" cy="18288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66928" y="2505456"/>
            <a:ext cx="36210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'Mario'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   = "Game Over"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letra  = 'A'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type(nombre)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11480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114800" cy="384048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 — Booleano (Boolean)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572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DOS valores posibles.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 False. (Con mayúscula)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Interruptores, condiciones...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3840480" cy="18288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864608" y="2505456"/>
            <a:ext cx="36210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vivo    = True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    = False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abierto = True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type(vivo)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'bool'&gt;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type(variable) para saber el tipo de cualquier variable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➕ OPERADORES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 ARITMÉTICOS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754880" cy="36576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4754880" cy="34747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75488" y="11430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   NOMBRE           EJEMPLO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4754880" cy="457200"/>
          </a:xfrm>
          <a:prstGeom prst="rect">
            <a:avLst/>
          </a:prstGeom>
          <a:solidFill>
            <a:srgbClr val="0A0A18"/>
          </a:solidFill>
          <a:ln w="12700">
            <a:solidFill>
              <a:srgbClr val="0A0A1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75488" y="15544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Suma             10 + 3  = 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02082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Resta            10 - 3  = 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4754880" cy="457200"/>
          </a:xfrm>
          <a:prstGeom prst="rect">
            <a:avLst/>
          </a:prstGeom>
          <a:solidFill>
            <a:srgbClr val="0A0A18"/>
          </a:solidFill>
          <a:ln w="12700">
            <a:solidFill>
              <a:srgbClr val="0A0A1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75488" y="248716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Multiplicación   10 * 3  = 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95351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 División         10 / 3  = 3.33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754880" cy="457200"/>
          </a:xfrm>
          <a:prstGeom prst="rect">
            <a:avLst/>
          </a:prstGeom>
          <a:solidFill>
            <a:srgbClr val="0A0A18"/>
          </a:solidFill>
          <a:ln w="12700">
            <a:solidFill>
              <a:srgbClr val="0A0A1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75488" y="341985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División entera  10 // 3 =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8862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  Módulo/Residuo   10 % 3  =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4754880" cy="457200"/>
          </a:xfrm>
          <a:prstGeom prst="rect">
            <a:avLst/>
          </a:prstGeom>
          <a:solidFill>
            <a:srgbClr val="0A0A18"/>
          </a:solidFill>
          <a:ln w="12700">
            <a:solidFill>
              <a:srgbClr val="0A0A1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75488" y="435254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   Potencia         10 ** 3 = 1000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1143000"/>
            <a:ext cx="3474720" cy="18288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44068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CON TEXTO (str):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1508760"/>
            <a:ext cx="3474720" cy="141732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413248" y="1563624"/>
            <a:ext cx="325526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'Hi' + ' ' + 'Ana'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'Hi Ana'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 * 20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'--------------------'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3063240"/>
            <a:ext cx="3474720" cy="17373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440680" y="3108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TIP ÚTIL: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3438144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% 2 == 0  →  par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% 2 == 1  →  impar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Muy usado en juegos.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+300  |  Precedencia: ** primero, luego * / // %, luego + -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⚖️ OPERADORES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 DE COMPARACIÓN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7043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Comparan dos valores y devuelven True (verdadero) o False (falso).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Igual (Equal)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   → True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 == 'a' → True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8412480" cy="457200"/>
          </a:xfrm>
          <a:prstGeom prst="rect">
            <a:avLst/>
          </a:prstGeom>
          <a:solidFill>
            <a:srgbClr val="0F1A3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57200" y="23134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23134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Diferente (Not equal)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2313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3   → True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313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 != 'b' → True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798064"/>
            <a:ext cx="8412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57200" y="279806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27980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Mayor (Greater than)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798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&gt; 3    → True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2798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&gt; 7      → False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82696"/>
            <a:ext cx="8412480" cy="457200"/>
          </a:xfrm>
          <a:prstGeom prst="rect">
            <a:avLst/>
          </a:prstGeom>
          <a:solidFill>
            <a:srgbClr val="0F1A3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57200" y="32826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32826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Menor (Less than)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32826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&lt; 9    → True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2826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&lt; 2      → False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767328"/>
            <a:ext cx="8412480" cy="4572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57200" y="37673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3767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Mayor o igual (≥)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37673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&gt;= 5   → True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37673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&gt;= 5     → False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0F1A30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457200" y="4251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7160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Menor o igual (≤)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89120" y="4251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&lt;= 7   → True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4251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&lt;= 7     → False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Un solo = ASIGNA valor  •  Doble == COMPARA valores — ¡no los confundas!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⚖️ OPERADORES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 LÓGICOS Y PERTENENCIA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114800" cy="27432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LÓGICOS (Logical)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5727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1572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(And) — ambas verdaderas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1901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a&gt;0 and b&gt;0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3225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3225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(Or)  — al menos una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a&gt;0 or b&gt;0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0723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0723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(Not) — invierte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a&gt;0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114800" cy="274320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PERTENENCIA / IDENTIDAD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1572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Contiene (In)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 in 'Ana'  → True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23225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23225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contiene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'z' not in 'Ana'  → True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0723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0" y="30723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Mismo objeto (Is)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401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is None  → True/False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475488" y="4078224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= True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'Ana'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 and vip: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print('Acceso VIP')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'A' in nombre: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print('Nombre con A')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'python' in 'aprender python' → True  |  and, or, not combinan condiciones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📺 ENTRADA Y SALIDA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1 — FUNDAMENTOS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 Y  input()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411480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 — Salida /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Muestra información en pantalla.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Puedes imprimir texto, números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variables.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840480" cy="20574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66928" y="2386584"/>
            <a:ext cx="362102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print('Hola mundo')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print(42)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print(nombre, edad)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print('Nivel:', nivel)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 (moderno):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print(f'Hola {nombre}!')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  — Entrada / Input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 lo que escribe el usuario.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SIEMPRE devuelve texto (str).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Convierte con int() o float().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3840480" cy="20574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864608" y="2386584"/>
            <a:ext cx="362102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Texto: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input('Nombre: ')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Número entero: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int(input('Edad: '))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Decimal: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= float(input('Val: '))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int() o float() no puedes hacer cálculos con lo que escribe el usuario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🔣 SÍMBOLOS DE PYTHON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 COMPLETA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SÍMBOLOS — ARITMÉTICOS Y ASIGNACIÓN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93192" y="120700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69848" y="122529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(Add)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17043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246120" y="120700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22776" y="122529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 (Subtract)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17043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099048" y="120700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75704" y="122529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Multiplicar (Multiply)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13055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93192" y="216712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69848" y="21854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Dividir (Divide)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/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213055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246120" y="216712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22776" y="21854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División entera (Floor div)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// 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25896" y="213055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099048" y="216712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75704" y="21854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(Modulo)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% 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09067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93192" y="312724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69848" y="314553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 (Power)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** 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72968" y="309067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246120" y="312724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922776" y="314553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Asignar (Assign)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25896" y="309067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099048" y="312724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75704" y="314553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 y asignar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05079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393192" y="408736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69848" y="410565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 y asignar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72968" y="405079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3246120" y="408736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922776" y="410565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Multiplicar y asignar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25896" y="405079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6099048" y="408736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75704" y="410565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Dividir y asignar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/= 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+350  |  += es la forma corta de x = x + 1 — muy usada en bucles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🔣 SÍMBOLOS DE PYTHON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 COMPLETA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SÍMBOLOS — COMPARACIÓN, LÓGICOS Y MÁS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2834640" cy="347472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6576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17904"/>
            <a:ext cx="28346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84048" y="1554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Igual (Equal)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112264"/>
            <a:ext cx="28346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84048" y="2148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Diferente (Not eq.)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706624"/>
            <a:ext cx="28346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84048" y="2743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Mayor (Greater)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&gt;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00984"/>
            <a:ext cx="28346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84048" y="3337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Menor (Less)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&lt; 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95344"/>
            <a:ext cx="28346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84048" y="3931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Mayor/igual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&gt;=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489704"/>
            <a:ext cx="28346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84048" y="4526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526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Menor/igual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&lt;= 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1115568"/>
            <a:ext cx="2377440" cy="347472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3355848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LÓGICOS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10128" y="1517904"/>
            <a:ext cx="23774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374136" y="1554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24528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(And)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and 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2112264"/>
            <a:ext cx="23774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3374136" y="2148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24528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(Or)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or 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10128" y="2706624"/>
            <a:ext cx="23774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3374136" y="2743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224528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(Not)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43016" y="1115568"/>
            <a:ext cx="3291840" cy="34747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5888736" y="1115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PERTENENCIA / IDENTIDAD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43016" y="1517904"/>
            <a:ext cx="32918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5907024" y="1554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57416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Contiene (In)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 in 'Ana'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3016" y="2112264"/>
            <a:ext cx="32918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5907024" y="2148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57416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contiene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'z' not in 'Ana'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43016" y="2706624"/>
            <a:ext cx="3291840" cy="530352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5907024" y="2743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57416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el mismo objeto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is None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'python' in 'aprender python' → True  |  in funciona con listas, strings y más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🔀 CONDICIONALES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2 — CONTROL DE FLUJO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(si) / elif (si no, si) / else (si no)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621792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Permiten que el programa TOME DECISIONES según una condición.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3931920" cy="2852928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ESTRUCTURA: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3931920" cy="2450592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75488" y="2304288"/>
            <a:ext cx="371246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condicion: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es verdad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otra_cond: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la 1a falló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y ésta es verdad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todo fue falso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1874520"/>
            <a:ext cx="4297680" cy="2852928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617720" y="1920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EJEMPLO: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2249424"/>
            <a:ext cx="4297680" cy="2450592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590288" y="2304288"/>
            <a:ext cx="407822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int(input('Edad: '))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print('Mayor de edad')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edad &gt;= 13: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print('Adolescente')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print('Menor de edad')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La indentación (4 espacios) es OBLIGATORIA en Python — define el bloque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🔁 BUCLE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2 — CONTROL DE FLUJO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— Repetir un número fijo de veces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621792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Repite cuando SABES cuántas veces. Usa range() para generar secuencias de números.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2743200" cy="283464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range()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range(5)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0,1,2,3,4
</a:t>
            </a: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range(1,6)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1,2,3,4,5
</a:t>
            </a: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range(0,10,2)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0,2,4,6,8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1874520"/>
            <a:ext cx="5486400" cy="283464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383280" y="1929384"/>
            <a:ext cx="5266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Contar del 1 al 5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print('Turno:', i)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Tabla del 5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print(5, 'x', i, '=', 5*i)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+500  |  'for letra in PYTHON:' recorre cada letra del texto una a una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🔄 BUCLE WHILE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2 — CONTROL DE FLUJO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(mientras) — Repetir mientras sea verdad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621792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Repite mientras una condición sea VERDADERA. No sabes de antemano cuántas veces.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206240" cy="256032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75488" y="1929384"/>
            <a:ext cx="39867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Contador simple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contador &lt; 5: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print('Turno:', contador)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+= 1  # ← CRÍTICO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print('Fin del juego')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4206240" cy="256032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681728" y="1929384"/>
            <a:ext cx="39867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Validar entrada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vidas = -1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vidas &lt; 1 or vidas &gt; 5: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vidas = int(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input('Vidas (1-5): 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print('Iniciando con', vidas)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6213E"/>
          </a:solidFill>
          <a:ln w="25400">
            <a:solidFill>
              <a:srgbClr val="FF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920" y="45994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Sin cambiar la variable dentro del while → BUCLE INFINITO → Ctrl+C para detener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→ sabes cuántas veces  |  while → depende de una condición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🔣 SÍMBOLOS DE PYTHON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 COMPLETA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SÍMBOLOS — ESTRUCTURA Y CONTROL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74904" y="120700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122529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puntos (Colon)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17043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227832" y="120700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41648" y="122529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Comentario (Comment)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esto es nota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17043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080760" y="120700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94576" y="122529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Paréntesis (Parens)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print('hi')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13055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74904" y="216712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218541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(List/Index)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lista[0]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213055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227832" y="216712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41648" y="218541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Diccionario (Dict)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{k: v}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25896" y="213055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080760" y="216712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94576" y="218541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simple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'texto'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09067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74904" y="312724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88720" y="314553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doble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"texto"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72968" y="309067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227832" y="312724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041648" y="314553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 línea (Newline)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'a\nb'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25896" y="309067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080760" y="312724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94576" y="314553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 func (Arrow)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 -&gt; int: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05079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374904" y="408736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88720" y="410565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Ellipsis (Placeholder)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 ...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72968" y="405079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3227832" y="408736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041648" y="410565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Ignorar / Privado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= unused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25896" y="4050792"/>
            <a:ext cx="2670048" cy="8229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6080760" y="408736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894576" y="4105656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Desempacar (Unpack)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*b = [1,2,3]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: al final de if, for, while, def son OBLIGATORIOS — Python da error sin ellos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🧩 FUNCIONES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3 — FUNCIONES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— Definir una función (Define a function)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621792"/>
          </a:xfrm>
          <a:prstGeom prst="rect">
            <a:avLst/>
          </a:prstGeom>
          <a:solidFill>
            <a:srgbClr val="16213E"/>
          </a:solidFill>
          <a:ln w="254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de código con nombre propio. Se define una vez y se reutiliza cuantas veces quieras.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2011680" cy="292608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SIN PARÁMETROS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023360" cy="18288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75488" y="2249424"/>
            <a:ext cx="38039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bienvenida():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print('=== PYTHON ===')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print('Hola!')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bienvenida()  # llamar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bienvenida()  # otra vez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2011680" cy="29260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66344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CON PARÁMETROS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4560"/>
            <a:ext cx="4114800" cy="182880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773168" y="2249424"/>
            <a:ext cx="38953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saludar(nombre, nivel):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print('Hola,', nombre)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print('Nivel:', nivel)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saludar('Ana', 5)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saludar('Luis', 1)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+700  |  Parámetros son variables locales — solo existen dentro de la función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↩️ FUNCIONES: RETURN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3 — FUNCIONES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— Devolver un valor (Return a value)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8412480" cy="621792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hace que la función DEVUELVA un resultado que puedes usar en otra parte del programa.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023360" cy="283464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75488" y="1929384"/>
            <a:ext cx="38039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sumar(a, b):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es_par(n):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% 2 == 0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mayor(a, b):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&gt; b: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4114800" cy="283464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773168" y="1929384"/>
            <a:ext cx="38953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Usar el valor devuelto: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sumar(10, 5)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       # 15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 = es_par(4)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print(par)         # True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grande = mayor(8, 3)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print(grande)      # 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8412480" cy="301752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solo muestra  |  return devuelve el valor para usarlo después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+800  |  Una función puede tener varios return pero solo ejecuta uno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⚔ MINI-RETO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2 — PRÁCTICA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ADIVINA EL NÚMERO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5760" y="1170432"/>
            <a:ext cx="8412480" cy="356616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75488" y="1225296"/>
            <a:ext cx="8193024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numero_secreto = 7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intentos = 3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print('Adivina del 1 al 10')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print('Tienes', intentos, 'intentos')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intento in range(intentos):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int(input('Tu intento: '))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== numero_secreto: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print('¡Correcto! ¡Ganaste!')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num &lt; numero_secreto: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print('El número es MAYOR')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print('El número es MENOR')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print('Se acabaron. Era el', numero_secreto)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— sale del bucle inmediatamente  |  else en for — se ejecuta si NO hubo break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🏆 PROYECTO FINAL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3 — CALCULADORA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 EN CONSOLA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8412480" cy="146304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75488" y="1197864"/>
            <a:ext cx="81930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sumar(a, b):    return a + 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restar(a, b):   return a - 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multiplicar(a,b): return a * 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dividir(a, b):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== 0: return 'Error: div/0'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/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8412480" cy="1874520"/>
          </a:xfrm>
          <a:prstGeom prst="rect">
            <a:avLst/>
          </a:prstGeom>
          <a:solidFill>
            <a:srgbClr val="050510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75488" y="2752344"/>
            <a:ext cx="81930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 = input('Operación (1+  2-  3*  4/  5=salir): ')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 == '5': break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float(input('Primer número: '))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float(input('Segundo número: '))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op=='1':   print('=', sumar(a,b))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op=='2': print('=', restar(a,b))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op=='3': print('=', multiplicar(a,b))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op=='4': print('=', dividir(a,b))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¡Este es tu primer programa completo! Combina variables, funciones, if y while.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🏆 RESUMEN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COMPLETADO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942832" y="64008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64008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942832" y="4942332"/>
            <a:ext cx="137160" cy="1371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COMPLETADO — LO QUE APRENDISTE HOY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8412480" cy="566928"/>
          </a:xfrm>
          <a:prstGeom prst="rect">
            <a:avLst/>
          </a:prstGeom>
          <a:solidFill>
            <a:srgbClr val="16213E"/>
          </a:solidFill>
          <a:ln w="254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65760" y="1143000"/>
            <a:ext cx="475488" cy="56692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65760" y="11430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y tipos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14173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· float · str · bool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783080"/>
            <a:ext cx="8412480" cy="566928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65760" y="1783080"/>
            <a:ext cx="475488" cy="566928"/>
          </a:xfrm>
          <a:prstGeom prst="rect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65760" y="178308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20574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 // % ** == != &gt; &lt; &gt;= &lt;= and or not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423160"/>
            <a:ext cx="8412480" cy="566928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65760" y="2423160"/>
            <a:ext cx="475488" cy="5669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65760" y="242316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 y salida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2697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· input() · int() · float()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8412480" cy="566928"/>
          </a:xfrm>
          <a:prstGeom prst="rect">
            <a:avLst/>
          </a:prstGeom>
          <a:solidFill>
            <a:srgbClr val="16213E"/>
          </a:solidFill>
          <a:ln w="254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475488" cy="566928"/>
          </a:xfrm>
          <a:prstGeom prst="rect">
            <a:avLst/>
          </a:prstGeom>
          <a:solidFill>
            <a:srgbClr val="FF00AA"/>
          </a:solidFill>
          <a:ln w="12700">
            <a:solidFill>
              <a:srgbClr val="FF00A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65760" y="306324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Condicionales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" y="33375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· elif · else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8412480" cy="566928"/>
          </a:xfrm>
          <a:prstGeom prst="rect">
            <a:avLst/>
          </a:prstGeom>
          <a:solidFill>
            <a:srgbClr val="16213E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475488" cy="5669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65760" y="370332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2688" y="3730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2688" y="39776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con range() · while · break · continue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16213E"/>
          </a:solidFill>
          <a:ln w="254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365760" y="4343400"/>
            <a:ext cx="475488" cy="566928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365760" y="43434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2688" y="4370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32688" y="46177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· parámetros · return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182880" y="4864608"/>
            <a:ext cx="8778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docs.python.org/es  •  replit.com  •  freecodecamp.org  •  kaggle.com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2993</Words>
  <Application>Microsoft Office PowerPoint</Application>
  <PresentationFormat>Presentación en pantalla (16:9)</PresentationFormat>
  <Paragraphs>573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de Python Básico v2</dc:title>
  <dc:subject>PptxGenJS Presentation</dc:subject>
  <dc:creator>PptxGenJS</dc:creator>
  <cp:lastModifiedBy>Josue Daniel Revolorio Martínez</cp:lastModifiedBy>
  <cp:revision>8</cp:revision>
  <dcterms:created xsi:type="dcterms:W3CDTF">2026-03-17T23:18:15Z</dcterms:created>
  <dcterms:modified xsi:type="dcterms:W3CDTF">2026-03-18T13:48:12Z</dcterms:modified>
</cp:coreProperties>
</file>